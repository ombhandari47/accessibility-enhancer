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9AA0A6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974" y="29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61203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0873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A picture containing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573" y="81285"/>
            <a:ext cx="2920931" cy="135421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0" y="1435502"/>
            <a:ext cx="3023073" cy="584735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Faculty Guide: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POOJA PAWALE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13013334" y="-393524"/>
            <a:ext cx="4927697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Architecture/ Diagram: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15239" y="13610"/>
            <a:ext cx="7394797" cy="584735"/>
          </a:xfrm>
          <a:prstGeom prst="rect">
            <a:avLst/>
          </a:prstGeom>
          <a:solidFill>
            <a:srgbClr val="B3C6E7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323F4F"/>
                </a:solidFill>
                <a:latin typeface="Century"/>
                <a:ea typeface="Century"/>
                <a:cs typeface="Century"/>
                <a:sym typeface="Century"/>
              </a:rPr>
              <a:t>MIT SCHOOL OF COMPUTING </a:t>
            </a:r>
            <a:endParaRPr sz="3200" b="0" i="0" u="none" strike="noStrike" cap="none">
              <a:solidFill>
                <a:srgbClr val="323F4F"/>
              </a:solidFill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-3345986" y="2629235"/>
            <a:ext cx="2869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-1" y="5058358"/>
            <a:ext cx="4446127" cy="179964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dirty="0"/>
              <a:t>Problem Statement:-</a:t>
            </a:r>
          </a:p>
          <a:p>
            <a:r>
              <a:rPr lang="en-GB" dirty="0"/>
              <a:t>Many college portals and study resources are not accessible to students with disabilities such as visual impairment or dyslexia. These students face difficulties in reading, navigating portals, and accessing notes. </a:t>
            </a:r>
            <a:r>
              <a:rPr lang="en-IN" dirty="0"/>
              <a:t>customizable </a:t>
            </a:r>
            <a:r>
              <a:rPr lang="en-GB" dirty="0"/>
              <a:t>This creates a barrier to inclusive education and impacts their academic performance and confidence.</a:t>
            </a:r>
            <a:endParaRPr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4529135" y="5103712"/>
            <a:ext cx="4014340" cy="16927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sz="1300" b="1" dirty="0"/>
              <a:t>Proposed Solution:</a:t>
            </a:r>
          </a:p>
          <a:p>
            <a:r>
              <a:rPr sz="1300" dirty="0"/>
              <a:t>Develop a browser extension/app that:</a:t>
            </a:r>
          </a:p>
          <a:p>
            <a:pPr marL="342900" indent="-342900">
              <a:buAutoNum type="arabicPeriod"/>
            </a:pPr>
            <a:r>
              <a:rPr lang="en-IN" sz="1300" dirty="0"/>
              <a:t>Reads aloud content </a:t>
            </a:r>
          </a:p>
          <a:p>
            <a:r>
              <a:rPr lang="en-IN" sz="1300" dirty="0"/>
              <a:t>2. Converts PDF notes into audio for easy listening.</a:t>
            </a:r>
          </a:p>
          <a:p>
            <a:r>
              <a:rPr lang="en-IN" sz="1300" dirty="0"/>
              <a:t>3. Provides dyslexia-friendly fonts &amp; </a:t>
            </a:r>
            <a:r>
              <a:rPr lang="en-IN" sz="1300" dirty="0" err="1"/>
              <a:t>color</a:t>
            </a:r>
            <a:r>
              <a:rPr lang="en-IN" sz="1300" dirty="0"/>
              <a:t> contrast for readability.</a:t>
            </a:r>
          </a:p>
          <a:p>
            <a:r>
              <a:rPr lang="en-IN" sz="1300" dirty="0"/>
              <a:t>4. Enables voice-based navigation for smoother portal access.</a:t>
            </a:r>
            <a:r>
              <a:rPr sz="1300" dirty="0"/>
              <a:t>.</a:t>
            </a:r>
          </a:p>
        </p:txBody>
      </p:sp>
      <p:sp>
        <p:nvSpPr>
          <p:cNvPr id="92" name="Google Shape;92;p13"/>
          <p:cNvSpPr txBox="1"/>
          <p:nvPr/>
        </p:nvSpPr>
        <p:spPr>
          <a:xfrm>
            <a:off x="8626484" y="5042158"/>
            <a:ext cx="3567104" cy="181584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b="1" dirty="0"/>
              <a:t>Scope and Feasibility:</a:t>
            </a:r>
            <a:endParaRPr lang="en-GB" b="1" dirty="0"/>
          </a:p>
          <a:p>
            <a:r>
              <a:rPr lang="en-GB" dirty="0"/>
              <a:t>-Helps visually impaired and dyslexic students immediately.</a:t>
            </a:r>
          </a:p>
          <a:p>
            <a:r>
              <a:rPr lang="en-GB" dirty="0"/>
              <a:t>-Scalable to schools, universities, and workplaces.</a:t>
            </a:r>
          </a:p>
          <a:p>
            <a:r>
              <a:rPr lang="en-GB" dirty="0"/>
              <a:t>-Can integrate with Learning Management Systems (LMS) like Moodle, Google Classroom, or custom portals.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0510463" y="13609"/>
            <a:ext cx="1602768" cy="523180"/>
          </a:xfrm>
          <a:prstGeom prst="rect">
            <a:avLst/>
          </a:prstGeom>
          <a:solidFill>
            <a:srgbClr val="FEE59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dirty="0"/>
              <a:t>Group Id: </a:t>
            </a:r>
            <a:endParaRPr lang="en-GB" dirty="0"/>
          </a:p>
          <a:p>
            <a:r>
              <a:rPr lang="en-GB" dirty="0"/>
              <a:t>TY-CORE223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" y="2139647"/>
            <a:ext cx="4443741" cy="2902511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1714501" y="3528135"/>
            <a:ext cx="1026096" cy="5866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 rot="10800000" flipV="1">
            <a:off x="1892300" y="3639094"/>
            <a:ext cx="200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/>
              <a:t>user</a:t>
            </a:r>
            <a:endParaRPr lang="en-IN" b="1" dirty="0"/>
          </a:p>
        </p:txBody>
      </p:sp>
      <p:sp>
        <p:nvSpPr>
          <p:cNvPr id="22" name="Google Shape;85;p13"/>
          <p:cNvSpPr txBox="1"/>
          <p:nvPr/>
        </p:nvSpPr>
        <p:spPr>
          <a:xfrm>
            <a:off x="3015239" y="625990"/>
            <a:ext cx="9093489" cy="1508065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DEPARTMENT OF COMPUTER SCIENCE &amp; ENGINEERING</a:t>
            </a:r>
            <a:endParaRPr sz="1800" b="0" i="0" u="none" strike="noStrike" cap="none" dirty="0">
              <a:solidFill>
                <a:schemeClr val="lt1"/>
              </a:solidFill>
              <a:latin typeface="Century"/>
              <a:ea typeface="Century"/>
              <a:cs typeface="Century"/>
              <a:sym typeface="Century"/>
            </a:endParaRPr>
          </a:p>
          <a:p>
            <a:pPr lvl="0" algn="ctr">
              <a:buSzPts val="2800"/>
            </a:pPr>
            <a:r>
              <a:rPr lang="en-GB" sz="2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Accessibility Enhancer: Web/Voice Support for Disabled Students</a:t>
            </a:r>
          </a:p>
          <a:p>
            <a:pPr lvl="0" algn="ctr">
              <a:buSzPts val="2800"/>
            </a:pPr>
            <a:r>
              <a:rPr lang="en-GB" sz="1800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Amol </a:t>
            </a:r>
            <a:r>
              <a:rPr lang="en-GB" sz="1800" i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Dodmani,Om</a:t>
            </a:r>
            <a:r>
              <a:rPr lang="en-GB" sz="1800" i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Bhandari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761698-2BEF-01EB-4CD3-01A9944E90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484" y="2274307"/>
            <a:ext cx="3482244" cy="268915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042D15-E854-081A-5EC5-1C89CCFEC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825745"/>
              </p:ext>
            </p:extLst>
          </p:nvPr>
        </p:nvGraphicFramePr>
        <p:xfrm>
          <a:off x="4515104" y="2161701"/>
          <a:ext cx="4028372" cy="288225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68972">
                  <a:extLst>
                    <a:ext uri="{9D8B030D-6E8A-4147-A177-3AD203B41FA5}">
                      <a16:colId xmlns:a16="http://schemas.microsoft.com/office/drawing/2014/main" val="1615898159"/>
                    </a:ext>
                  </a:extLst>
                </a:gridCol>
                <a:gridCol w="1594291">
                  <a:extLst>
                    <a:ext uri="{9D8B030D-6E8A-4147-A177-3AD203B41FA5}">
                      <a16:colId xmlns:a16="http://schemas.microsoft.com/office/drawing/2014/main" val="1638853337"/>
                    </a:ext>
                  </a:extLst>
                </a:gridCol>
                <a:gridCol w="1765109">
                  <a:extLst>
                    <a:ext uri="{9D8B030D-6E8A-4147-A177-3AD203B41FA5}">
                      <a16:colId xmlns:a16="http://schemas.microsoft.com/office/drawing/2014/main" val="3631593135"/>
                    </a:ext>
                  </a:extLst>
                </a:gridCol>
              </a:tblGrid>
              <a:tr h="262821">
                <a:tc>
                  <a:txBody>
                    <a:bodyPr/>
                    <a:lstStyle/>
                    <a:p>
                      <a:r>
                        <a:rPr lang="en-IN" sz="1200" dirty="0"/>
                        <a:t>SR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Requirement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Proposed Solution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594763"/>
                  </a:ext>
                </a:extLst>
              </a:tr>
              <a:tr h="962012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Access to web content for visually impaired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Implement </a:t>
                      </a:r>
                      <a:r>
                        <a:rPr lang="en-US" sz="1200" b="1" dirty="0"/>
                        <a:t>Text-to-Speech</a:t>
                      </a:r>
                      <a:r>
                        <a:rPr lang="en-US" sz="1200" dirty="0"/>
                        <a:t> using the </a:t>
                      </a:r>
                      <a:r>
                        <a:rPr lang="en-US" sz="1200" b="1" dirty="0"/>
                        <a:t>Web Speech API</a:t>
                      </a:r>
                      <a:r>
                        <a:rPr lang="en-US" sz="1200" dirty="0"/>
                        <a:t> to read aloud website text.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677695"/>
                  </a:ext>
                </a:extLst>
              </a:tr>
              <a:tr h="788463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Accessibility of PDF notes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Use </a:t>
                      </a:r>
                      <a:r>
                        <a:rPr lang="en-US" sz="1200" b="1" dirty="0"/>
                        <a:t>PDF.js</a:t>
                      </a:r>
                      <a:r>
                        <a:rPr lang="en-US" sz="1200" dirty="0"/>
                        <a:t> (or similar libraries) to extract text and convert it into speech.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411339"/>
                  </a:ext>
                </a:extLst>
              </a:tr>
              <a:tr h="788463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Personalization for different disabilities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Add </a:t>
                      </a:r>
                      <a:r>
                        <a:rPr lang="en-US" sz="1200" b="1" dirty="0"/>
                        <a:t>customizable settings</a:t>
                      </a:r>
                      <a:r>
                        <a:rPr lang="en-US" sz="1200" dirty="0"/>
                        <a:t> for font size, themes, and voice options.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08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255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Om Bhandari</cp:lastModifiedBy>
  <cp:revision>9</cp:revision>
  <dcterms:modified xsi:type="dcterms:W3CDTF">2025-12-01T13:24:49Z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2023-08-22T15:55:58Z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a9f9e4d2-07a5-4c01-b96a-2377cca3dabb</vt:lpwstr>
  </property>
  <property fmtid="{D5CDD505-2E9C-101B-9397-08002B2CF9AE}" pid="8" name="MSIP_Label_e65487c9-99ed-4cbc-93a8-0e9b1796bde5_ContentBits">
    <vt:lpwstr>0</vt:lpwstr>
  </property>
</Properties>
</file>